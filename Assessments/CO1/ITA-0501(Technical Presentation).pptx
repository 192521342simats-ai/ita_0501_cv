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01987F-5E30-BC30-18BB-ABF396E0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90" y="259171"/>
            <a:ext cx="8662219" cy="1012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BF360-6231-A97B-9B88-9487B041BCDA}"/>
              </a:ext>
            </a:extLst>
          </p:cNvPr>
          <p:cNvSpPr txBox="1"/>
          <p:nvPr/>
        </p:nvSpPr>
        <p:spPr>
          <a:xfrm>
            <a:off x="2684207" y="2153265"/>
            <a:ext cx="7905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INDUSTRIAL QUALITY INSPECTION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48692-11E5-17FB-A8EB-F1C6149B6DEB}"/>
              </a:ext>
            </a:extLst>
          </p:cNvPr>
          <p:cNvSpPr txBox="1"/>
          <p:nvPr/>
        </p:nvSpPr>
        <p:spPr>
          <a:xfrm>
            <a:off x="4463845" y="3096890"/>
            <a:ext cx="3088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ITA0501-Computer 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1A686-A1C0-5FF2-3B66-89A334F38909}"/>
              </a:ext>
            </a:extLst>
          </p:cNvPr>
          <p:cNvSpPr txBox="1"/>
          <p:nvPr/>
        </p:nvSpPr>
        <p:spPr>
          <a:xfrm>
            <a:off x="462116" y="4277032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R.C .Jeni Gracia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6B561-F759-7BC7-CC55-00106FA16CFF}"/>
              </a:ext>
            </a:extLst>
          </p:cNvPr>
          <p:cNvSpPr txBox="1"/>
          <p:nvPr/>
        </p:nvSpPr>
        <p:spPr>
          <a:xfrm>
            <a:off x="8864290" y="4184699"/>
            <a:ext cx="2909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 Preya H (192421047)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. Sarmila (192524383)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Reshma B S (192521342)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Sumetha Sri S (192521097)</a:t>
            </a:r>
          </a:p>
        </p:txBody>
      </p:sp>
    </p:spTree>
    <p:extLst>
      <p:ext uri="{BB962C8B-B14F-4D97-AF65-F5344CB8AC3E}">
        <p14:creationId xmlns:p14="http://schemas.microsoft.com/office/powerpoint/2010/main" val="125009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41A3-5126-F2B0-0BD9-73B1D9AB6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063" y="1069990"/>
            <a:ext cx="9603275" cy="104923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CAMERA-BASED IMAGE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24DF-47E1-2D59-3295-5EF4C0E0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662" y="2119225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the Product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cameras capture product images on the production line.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lighting helps reveal surface defects.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position and resolution affect image quality.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continuously captured for inspection.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B373BA-1D9F-C138-FF77-52DD234C07AC}"/>
              </a:ext>
            </a:extLst>
          </p:cNvPr>
          <p:cNvSpPr/>
          <p:nvPr/>
        </p:nvSpPr>
        <p:spPr>
          <a:xfrm>
            <a:off x="8229600" y="2222090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AB00F-CA27-2482-6ADA-28ABC3D71386}"/>
              </a:ext>
            </a:extLst>
          </p:cNvPr>
          <p:cNvSpPr/>
          <p:nvPr/>
        </p:nvSpPr>
        <p:spPr>
          <a:xfrm>
            <a:off x="8229600" y="3195602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A7880B-7DF2-8F02-7258-756147F93C60}"/>
              </a:ext>
            </a:extLst>
          </p:cNvPr>
          <p:cNvSpPr/>
          <p:nvPr/>
        </p:nvSpPr>
        <p:spPr>
          <a:xfrm>
            <a:off x="8229600" y="4314012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E7802-CECD-5681-C782-62F2572BFDAF}"/>
              </a:ext>
            </a:extLst>
          </p:cNvPr>
          <p:cNvSpPr/>
          <p:nvPr/>
        </p:nvSpPr>
        <p:spPr>
          <a:xfrm>
            <a:off x="8229600" y="5348238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3188FD2-B53D-82B5-5849-124165655E6D}"/>
              </a:ext>
            </a:extLst>
          </p:cNvPr>
          <p:cNvSpPr/>
          <p:nvPr/>
        </p:nvSpPr>
        <p:spPr>
          <a:xfrm>
            <a:off x="9030928" y="2871019"/>
            <a:ext cx="176981" cy="3245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B95A45-6FF3-6A51-8A9E-FD9E161B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522" y="3863428"/>
            <a:ext cx="287791" cy="431686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1AFF92DF-1F9E-2BD6-B742-D139077CFEE9}"/>
              </a:ext>
            </a:extLst>
          </p:cNvPr>
          <p:cNvSpPr/>
          <p:nvPr/>
        </p:nvSpPr>
        <p:spPr>
          <a:xfrm>
            <a:off x="9042086" y="4981839"/>
            <a:ext cx="176981" cy="3245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 descr="Advance Sensing | Machine Vision Company in India | Industrial Automation &amp; Sensor Solutions Bengaluru">
            <a:extLst>
              <a:ext uri="{FF2B5EF4-FFF2-40B4-BE49-F238E27FC236}">
                <a16:creationId xmlns:a16="http://schemas.microsoft.com/office/drawing/2014/main" id="{6D7A66E4-0EB0-50F0-03D4-9B59E08C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642" y="2924586"/>
            <a:ext cx="2135670" cy="24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96B5-9AF1-6088-D401-2CBE647F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DC71-ABBA-0546-121F-AF1D8F6D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266744" cy="38442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Image for Inspection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Raw images may contain noise, unwanted background and uneven lighting.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the image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RGB → Grayscale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noise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contrast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image intensity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GitHub - giuliaguida00/fractal_analysis: The fractal_analysis repository contains the source code to execute the fractal analysis of contour, with some examples. To run the scrips, Matlab software is required. · GitHub">
            <a:extLst>
              <a:ext uri="{FF2B5EF4-FFF2-40B4-BE49-F238E27FC236}">
                <a16:creationId xmlns:a16="http://schemas.microsoft.com/office/drawing/2014/main" id="{6078C54D-7B4E-5125-15B2-686032638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6" b="12627"/>
          <a:stretch>
            <a:fillRect/>
          </a:stretch>
        </p:blipFill>
        <p:spPr>
          <a:xfrm>
            <a:off x="7443019" y="4169251"/>
            <a:ext cx="4748981" cy="1985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21391-4AFB-279A-C5F3-55E45609AA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4" t="9749" r="3710" b="2939"/>
          <a:stretch>
            <a:fillRect/>
          </a:stretch>
        </p:blipFill>
        <p:spPr>
          <a:xfrm>
            <a:off x="7443019" y="1844296"/>
            <a:ext cx="4748981" cy="232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5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EE30-B2A4-65DE-6057-212DFF58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411" y="809061"/>
            <a:ext cx="9603275" cy="104923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IMAGE ENHANCEMENT &amp; SPATIAL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3B538-96B5-4479-3CFD-9E93E729B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2015732"/>
            <a:ext cx="6980904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Improving Defect Visibility</a:t>
            </a:r>
          </a:p>
          <a:p>
            <a:pPr marL="0" indent="0">
              <a:buNone/>
            </a:pPr>
            <a:r>
              <a:rPr lang="en-IN" dirty="0"/>
              <a:t>     Image enhancement makes small defects easier to identify.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D8CB12-CC88-1913-43D4-2AA805FE0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889060"/>
              </p:ext>
            </p:extLst>
          </p:nvPr>
        </p:nvGraphicFramePr>
        <p:xfrm>
          <a:off x="537378" y="3207227"/>
          <a:ext cx="6679500" cy="290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750">
                  <a:extLst>
                    <a:ext uri="{9D8B030D-6E8A-4147-A177-3AD203B41FA5}">
                      <a16:colId xmlns:a16="http://schemas.microsoft.com/office/drawing/2014/main" val="4213114121"/>
                    </a:ext>
                  </a:extLst>
                </a:gridCol>
                <a:gridCol w="3339750">
                  <a:extLst>
                    <a:ext uri="{9D8B030D-6E8A-4147-A177-3AD203B41FA5}">
                      <a16:colId xmlns:a16="http://schemas.microsoft.com/office/drawing/2014/main" val="2654525677"/>
                    </a:ext>
                  </a:extLst>
                </a:gridCol>
              </a:tblGrid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044552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87084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unwanted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50334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Equalization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contrast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510212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fine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1326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2C4B21F-A595-0E67-4B7C-04509F09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101" y="1858296"/>
            <a:ext cx="4902899" cy="425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4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60AE-A717-04E4-5922-96A71190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B3D07-D942-9B28-2A9E-D0FE1BBF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824" y="2035397"/>
            <a:ext cx="6384731" cy="3450613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Isolating the Product Region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Segmentation separates the product from its background.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Thresholding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Segmentation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 Detection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2D8251-644E-1660-B3BE-00451B1B7E6B}"/>
              </a:ext>
            </a:extLst>
          </p:cNvPr>
          <p:cNvSpPr/>
          <p:nvPr/>
        </p:nvSpPr>
        <p:spPr>
          <a:xfrm>
            <a:off x="6930012" y="1940281"/>
            <a:ext cx="1956619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Image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B09E6A-686B-0DC5-E2B2-D15918A6FD54}"/>
              </a:ext>
            </a:extLst>
          </p:cNvPr>
          <p:cNvSpPr/>
          <p:nvPr/>
        </p:nvSpPr>
        <p:spPr>
          <a:xfrm>
            <a:off x="6953862" y="3103635"/>
            <a:ext cx="2050030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Thresholding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CA30FB-B696-0E50-36D6-8AAF07EF6732}"/>
              </a:ext>
            </a:extLst>
          </p:cNvPr>
          <p:cNvSpPr/>
          <p:nvPr/>
        </p:nvSpPr>
        <p:spPr>
          <a:xfrm>
            <a:off x="7000568" y="4260499"/>
            <a:ext cx="1956619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Product Region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45F70F-4712-945D-587C-6B561D742C83}"/>
              </a:ext>
            </a:extLst>
          </p:cNvPr>
          <p:cNvSpPr/>
          <p:nvPr/>
        </p:nvSpPr>
        <p:spPr>
          <a:xfrm>
            <a:off x="7059562" y="5387582"/>
            <a:ext cx="1956619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Defect Region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E160F31-FD95-D7A2-5D5D-75326FBDAC18}"/>
              </a:ext>
            </a:extLst>
          </p:cNvPr>
          <p:cNvSpPr/>
          <p:nvPr/>
        </p:nvSpPr>
        <p:spPr>
          <a:xfrm>
            <a:off x="7841218" y="2713687"/>
            <a:ext cx="176981" cy="38994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0A196AB-A71F-EEAF-8029-159E099A8304}"/>
              </a:ext>
            </a:extLst>
          </p:cNvPr>
          <p:cNvSpPr/>
          <p:nvPr/>
        </p:nvSpPr>
        <p:spPr>
          <a:xfrm flipH="1">
            <a:off x="7908322" y="4997634"/>
            <a:ext cx="219753" cy="389948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CDAEA0-D59F-272C-30BA-8553404A0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121" y="3858244"/>
            <a:ext cx="266367" cy="4145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BBCA85-D43E-105F-BB09-D972ABA78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181" y="1853755"/>
            <a:ext cx="3175819" cy="419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1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0B69-BA14-C33B-A519-2F5A0C48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EDGE &amp; CORNER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DCF3-7E49-A0D8-1918-84D35C946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60" y="2123887"/>
            <a:ext cx="5578485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Important Product Boundaries?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sudden changes in image intensity.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cracks, scratches and boundaries.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Edge Detection is widely used in OpenCV.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 Detection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important points where edges meet.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check component position and shape</a:t>
            </a:r>
            <a:r>
              <a:rPr lang="en-IN" dirty="0"/>
              <a:t>.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6D3B69A4-F0D8-C1A7-2D89-2F1F4772B556}"/>
              </a:ext>
            </a:extLst>
          </p:cNvPr>
          <p:cNvSpPr/>
          <p:nvPr/>
        </p:nvSpPr>
        <p:spPr>
          <a:xfrm>
            <a:off x="5967452" y="1971352"/>
            <a:ext cx="1582994" cy="80612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    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F44D1-9902-1AFF-F493-8DEA0CDEC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49" y="3112377"/>
            <a:ext cx="1603387" cy="829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0E0195-EA93-7C58-F748-92FF96101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48" y="4211638"/>
            <a:ext cx="1603387" cy="829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60F1C6-766D-F3AC-3E6E-5B4E4CB1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5" y="5310899"/>
            <a:ext cx="1603387" cy="829128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9B01489C-D9EA-1A79-F647-9B9A2A934EFE}"/>
              </a:ext>
            </a:extLst>
          </p:cNvPr>
          <p:cNvSpPr/>
          <p:nvPr/>
        </p:nvSpPr>
        <p:spPr>
          <a:xfrm>
            <a:off x="6617110" y="2777478"/>
            <a:ext cx="226142" cy="33489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DD9DC1-826A-F57B-F862-A9D4D1123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0" y="3894586"/>
            <a:ext cx="286537" cy="359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7307F1-F4B6-E66B-68C8-F01C8424A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877" y="5042627"/>
            <a:ext cx="286537" cy="3596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F38CC3-AD8C-9435-3B15-E260F39F80A5}"/>
              </a:ext>
            </a:extLst>
          </p:cNvPr>
          <p:cNvSpPr txBox="1"/>
          <p:nvPr/>
        </p:nvSpPr>
        <p:spPr>
          <a:xfrm>
            <a:off x="6334432" y="329656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37F2BF-2A80-6B3E-369B-E8B0A79B2EEE}"/>
              </a:ext>
            </a:extLst>
          </p:cNvPr>
          <p:cNvSpPr txBox="1"/>
          <p:nvPr/>
        </p:nvSpPr>
        <p:spPr>
          <a:xfrm>
            <a:off x="6472084" y="4395649"/>
            <a:ext cx="6218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6222F7-8E6F-8187-D34D-577CB975DDE3}"/>
              </a:ext>
            </a:extLst>
          </p:cNvPr>
          <p:cNvSpPr txBox="1"/>
          <p:nvPr/>
        </p:nvSpPr>
        <p:spPr>
          <a:xfrm>
            <a:off x="6233888" y="5402297"/>
            <a:ext cx="1899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Identification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04DA632-2F7F-7AC2-F628-A5720C218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791" y="1853754"/>
            <a:ext cx="4373582" cy="43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652A-533E-C292-4DFE-FA6BF32E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7124-9344-E0BC-C44B-B1F80EBD0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34" y="2015732"/>
            <a:ext cx="6984498" cy="40377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Product Characteristics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system extracts measurable features from the product image.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Perimeter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patterns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082E3-F461-7BF9-FA85-68590212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825" y="1853754"/>
            <a:ext cx="5536176" cy="50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3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6E5A-EC46-74F5-A53C-7B4BD6A1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PATTERN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5C3B1-9EE3-E14B-579C-AF69BF3E1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376087" cy="3450613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Defect Patterns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 are compared with expected product patterns.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products follow predefined characteristics.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patterns indicate possible defects.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helps classify products automatically.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00C20-376D-40BB-8697-262A091FC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667" y="1853754"/>
            <a:ext cx="4364334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2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CD94-4612-824E-B678-332AF0CB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DEEP-LEARNING-BASED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58B0-593F-FCA2-B661-5AEB1143F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66" y="1853754"/>
            <a:ext cx="7574234" cy="42080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CNN for Defect Classification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learns complex defect patterns from training images.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Images → CNN → Feature Learning → Trained Model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 → CNN Model → Prediction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✅ Good Product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Crack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Scratch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Missing Component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8264-B9B9-5289-4F06-64CDBD513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48" y="1853754"/>
            <a:ext cx="5014452" cy="50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00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9BF-E550-BFA1-F659-32B52B0A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OPENCV REAL-TIME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B5F51-1ABB-E691-5218-1F09F7F7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128" y="2121819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Camera Feed to Automatic Inspection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OpenCV connects image acquisition and processing for real-time inspection.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59DE71-7D67-0557-C744-4C821B02CB00}"/>
              </a:ext>
            </a:extLst>
          </p:cNvPr>
          <p:cNvSpPr/>
          <p:nvPr/>
        </p:nvSpPr>
        <p:spPr>
          <a:xfrm>
            <a:off x="580095" y="3675943"/>
            <a:ext cx="1956620" cy="6194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BF5B2A-0624-F553-7712-57B4A4E1DC5A}"/>
              </a:ext>
            </a:extLst>
          </p:cNvPr>
          <p:cNvSpPr/>
          <p:nvPr/>
        </p:nvSpPr>
        <p:spPr>
          <a:xfrm>
            <a:off x="3918506" y="3684453"/>
            <a:ext cx="1956620" cy="6194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Capture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A50D8A-5474-1BCF-DB5E-9500A7BB8AFA}"/>
              </a:ext>
            </a:extLst>
          </p:cNvPr>
          <p:cNvSpPr/>
          <p:nvPr/>
        </p:nvSpPr>
        <p:spPr>
          <a:xfrm>
            <a:off x="7275878" y="3684453"/>
            <a:ext cx="1956620" cy="6194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D8ADDE-5940-65A8-4BEB-93722B1B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36" y="5122607"/>
            <a:ext cx="1969179" cy="627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F08536-942A-9C5F-66C5-6F4F7E92D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47" y="5163005"/>
            <a:ext cx="1969179" cy="627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BABF0F-152A-CA77-6FFF-218CF195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835" y="5122607"/>
            <a:ext cx="1969179" cy="6279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BE09E3-FB2C-2B7C-B857-9429AC48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087" y="3906403"/>
            <a:ext cx="1486039" cy="1931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BA80CE-28F8-3A5A-1332-4D3616CF0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622" y="3906403"/>
            <a:ext cx="1473035" cy="1931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C5806AB-240A-8CB3-C47A-D3F66BB0A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715" y="5368857"/>
            <a:ext cx="1460961" cy="1931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9F7861-AF78-864A-2552-D18BE80AF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710" y="5386458"/>
            <a:ext cx="1406430" cy="18597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B2BB79-8BCD-2561-1BE8-C6B995F4812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232498" y="3994169"/>
            <a:ext cx="14860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BB66078-4D4B-A86E-A0E7-A8DC372C372C}"/>
              </a:ext>
            </a:extLst>
          </p:cNvPr>
          <p:cNvCxnSpPr/>
          <p:nvPr/>
        </p:nvCxnSpPr>
        <p:spPr>
          <a:xfrm>
            <a:off x="10718537" y="3994169"/>
            <a:ext cx="0" cy="678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DEDD03E-4AA8-1265-0041-1F1F9CD669AC}"/>
              </a:ext>
            </a:extLst>
          </p:cNvPr>
          <p:cNvCxnSpPr/>
          <p:nvPr/>
        </p:nvCxnSpPr>
        <p:spPr>
          <a:xfrm flipV="1">
            <a:off x="235974" y="4672594"/>
            <a:ext cx="10482563" cy="1058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F88C57-58A1-D6DF-3B5B-EE1C3EE1DC6B}"/>
              </a:ext>
            </a:extLst>
          </p:cNvPr>
          <p:cNvCxnSpPr/>
          <p:nvPr/>
        </p:nvCxnSpPr>
        <p:spPr>
          <a:xfrm>
            <a:off x="235974" y="4778477"/>
            <a:ext cx="0" cy="7442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21162A-3845-C6CB-0BDC-E0B71EEF98CF}"/>
              </a:ext>
            </a:extLst>
          </p:cNvPr>
          <p:cNvCxnSpPr/>
          <p:nvPr/>
        </p:nvCxnSpPr>
        <p:spPr>
          <a:xfrm>
            <a:off x="235974" y="5522713"/>
            <a:ext cx="344121" cy="10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2136A0C-E3C4-B944-F6DC-4CD9AAFA7F85}"/>
              </a:ext>
            </a:extLst>
          </p:cNvPr>
          <p:cNvSpPr txBox="1"/>
          <p:nvPr/>
        </p:nvSpPr>
        <p:spPr>
          <a:xfrm>
            <a:off x="855489" y="525191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6A3E6-60F5-603C-7D82-E4EFBA740FDD}"/>
              </a:ext>
            </a:extLst>
          </p:cNvPr>
          <p:cNvSpPr txBox="1"/>
          <p:nvPr/>
        </p:nvSpPr>
        <p:spPr>
          <a:xfrm>
            <a:off x="4193900" y="526775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59C5E4-D962-DE3E-2CE6-5B369B84B577}"/>
              </a:ext>
            </a:extLst>
          </p:cNvPr>
          <p:cNvSpPr txBox="1"/>
          <p:nvPr/>
        </p:nvSpPr>
        <p:spPr>
          <a:xfrm>
            <a:off x="7227746" y="524560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7D112B-2FAE-D892-B24D-54145811DC27}"/>
              </a:ext>
            </a:extLst>
          </p:cNvPr>
          <p:cNvCxnSpPr/>
          <p:nvPr/>
        </p:nvCxnSpPr>
        <p:spPr>
          <a:xfrm>
            <a:off x="9114014" y="5465449"/>
            <a:ext cx="1023044" cy="115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68563BD-3A1E-6FD2-D3CF-3B1FD434AAC7}"/>
              </a:ext>
            </a:extLst>
          </p:cNvPr>
          <p:cNvSpPr/>
          <p:nvPr/>
        </p:nvSpPr>
        <p:spPr>
          <a:xfrm>
            <a:off x="10172684" y="5154002"/>
            <a:ext cx="1808947" cy="6164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09FB5F-CE20-0B15-6BEA-1B678426D279}"/>
              </a:ext>
            </a:extLst>
          </p:cNvPr>
          <p:cNvSpPr txBox="1"/>
          <p:nvPr/>
        </p:nvSpPr>
        <p:spPr>
          <a:xfrm>
            <a:off x="10294816" y="5265416"/>
            <a:ext cx="1595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66191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F99E-EA86-EA99-95DB-943806F2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DECISION &amp; INTELLIGENT MANUFACTURING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52817-5E05-E42E-1E59-71796E71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2015732"/>
            <a:ext cx="7207047" cy="4188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DECISION-MAKING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classification, the system automatically decides whether the product is acceptable.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PASS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defect detected                                                                                                                                            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Product continues production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FAIL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detected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Product rejected / operator alerted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70BEE-0A98-CBD2-33AA-F412C75A9BA7}"/>
              </a:ext>
            </a:extLst>
          </p:cNvPr>
          <p:cNvSpPr txBox="1"/>
          <p:nvPr/>
        </p:nvSpPr>
        <p:spPr>
          <a:xfrm>
            <a:off x="7539981" y="2015732"/>
            <a:ext cx="36591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inspection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quality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defect detection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quality monitoring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intelligent manufacturing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265A88-FE9E-1C05-195C-40516BEA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432" y="4041058"/>
            <a:ext cx="4345858" cy="2816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812DE1-6A03-39C3-3D34-D1A4D3444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290" y="4041058"/>
            <a:ext cx="4178710" cy="27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6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EE09-ED2D-1209-5803-62FBB068D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ank You Text Design Brown Color Vector, Thank You, Brown, Text Design PNG and Vector with Transparent Background for Free Download">
            <a:extLst>
              <a:ext uri="{FF2B5EF4-FFF2-40B4-BE49-F238E27FC236}">
                <a16:creationId xmlns:a16="http://schemas.microsoft.com/office/drawing/2014/main" id="{D291E556-E025-36D3-DE52-FF9EDC9E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48" t="33275" r="7559" b="31469"/>
          <a:stretch>
            <a:fillRect/>
          </a:stretch>
        </p:blipFill>
        <p:spPr>
          <a:xfrm>
            <a:off x="3274141" y="2458065"/>
            <a:ext cx="5515898" cy="28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556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463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Gill Sans MT</vt:lpstr>
      <vt:lpstr>Times New Roman</vt:lpstr>
      <vt:lpstr>Wingdings</vt:lpstr>
      <vt:lpstr>Gallery</vt:lpstr>
      <vt:lpstr>PowerPoint Presentation</vt:lpstr>
      <vt:lpstr>(A) CAMERA-BASED IMAGE ACQUISITION</vt:lpstr>
      <vt:lpstr>IMAGE PREPROCESSING </vt:lpstr>
      <vt:lpstr>(B) IMAGE ENHANCEMENT &amp; SPATIAL FILTERING</vt:lpstr>
      <vt:lpstr>IMAGE SEGMENTATION</vt:lpstr>
      <vt:lpstr>(C) EDGE &amp; CORNER DETECTION</vt:lpstr>
      <vt:lpstr>FEATURE EXTRACTION</vt:lpstr>
      <vt:lpstr>(D) PATTERN RECOGNITION</vt:lpstr>
      <vt:lpstr>DEEP-LEARNING-BASED CLASSIFICATION</vt:lpstr>
      <vt:lpstr>(E) OPENCV REAL-TIME INSPECTION</vt:lpstr>
      <vt:lpstr>AUTOMATED DECISION &amp; INTELLIGENT MANUFACTURING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SARMILA P</dc:creator>
  <cp:lastModifiedBy>SARMILA P</cp:lastModifiedBy>
  <cp:revision>1</cp:revision>
  <dcterms:created xsi:type="dcterms:W3CDTF">2026-10-06T14:53:43Z</dcterms:created>
  <dcterms:modified xsi:type="dcterms:W3CDTF">2026-10-06T16:21:31Z</dcterms:modified>
</cp:coreProperties>
</file>